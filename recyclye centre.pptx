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58" r:id="rId4"/>
    <p:sldId id="259" r:id="rId5"/>
    <p:sldId id="260" r:id="rId6"/>
    <p:sldId id="263" r:id="rId7"/>
    <p:sldId id="264" r:id="rId8"/>
    <p:sldId id="267" r:id="rId9"/>
    <p:sldId id="266" r:id="rId10"/>
    <p:sldId id="261"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p:scale>
          <a:sx n="75" d="100"/>
          <a:sy n="75" d="100"/>
        </p:scale>
        <p:origin x="1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6132-DE4F-FC5F-A058-A686E158ED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E3CCA8D-A83D-8F24-4DB4-9B7C5EFCBD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26DA0B-7C73-DFB8-88A3-9B02939BD43F}"/>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F947A8CA-9D4D-A32C-6AC4-AD8573D5B4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1C04B9-07EB-3A7B-2B24-D23CE94A0CB2}"/>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3748059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E80E-2792-4BA6-0119-B3773485AA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5E2977-B962-526F-D06D-9EDFE21AB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27A763-1BBA-FF7E-E9B9-6BC8596AECF6}"/>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01B4CF9A-4FBB-0C10-46CE-850294E8DB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5A186-3270-CC6E-951E-07B7BE8C5DE0}"/>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350740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9BF8-6C9A-4307-DD7E-D8EBD3C3A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F10EA3-FA72-56D1-E216-1548EE6C57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9A8161-CBFE-88EA-4D19-CF261969298F}"/>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30078C58-306A-A671-4F53-1FBB64A08D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258B0C-B35D-940D-899E-88BDEBAB062B}"/>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652775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F42E-96B7-3620-4695-5780197B81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1CD65B-0823-51AC-C64D-F8064D0C1F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3AC0DF-B62B-72F4-C00C-C8EA0E2551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E2186C-AC06-D63D-DA96-1214303DA61E}"/>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6" name="Footer Placeholder 5">
            <a:extLst>
              <a:ext uri="{FF2B5EF4-FFF2-40B4-BE49-F238E27FC236}">
                <a16:creationId xmlns:a16="http://schemas.microsoft.com/office/drawing/2014/main" id="{45DA9B8C-604F-5861-0094-DF4839FFE6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BB81E4-F5C7-5270-47E4-340C027591D4}"/>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863094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58B2-7B22-7FF8-D527-959902D177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CCC12-800F-F2AB-E048-0E7BCF32D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B51DE6-FDD2-EC85-CA99-4F392ADAA5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4CA822-5558-D824-4D2F-9348EB3C1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90D76F-C7FA-C8A8-FF72-8F3324E161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6855F4-16D9-95C7-B61A-75EC58AE76FE}"/>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8" name="Footer Placeholder 7">
            <a:extLst>
              <a:ext uri="{FF2B5EF4-FFF2-40B4-BE49-F238E27FC236}">
                <a16:creationId xmlns:a16="http://schemas.microsoft.com/office/drawing/2014/main" id="{A454A8EA-77D7-E891-0F9E-E85D94A4FA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95C308-B854-E9CB-EB41-7E31EC682A7B}"/>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407473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D933-515F-0BEC-4780-2908DC43E4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3336CC-B9A1-F06F-DFA1-528AB2053C42}"/>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4" name="Footer Placeholder 3">
            <a:extLst>
              <a:ext uri="{FF2B5EF4-FFF2-40B4-BE49-F238E27FC236}">
                <a16:creationId xmlns:a16="http://schemas.microsoft.com/office/drawing/2014/main" id="{F9D1B30F-AD79-C5D2-A4AD-B9502926DB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B7CE41-5F6D-A3DD-14C3-62A16D68C73A}"/>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1531430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1DBFA1-A86C-86FA-EB11-3C5B7C1DCC17}"/>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3" name="Footer Placeholder 2">
            <a:extLst>
              <a:ext uri="{FF2B5EF4-FFF2-40B4-BE49-F238E27FC236}">
                <a16:creationId xmlns:a16="http://schemas.microsoft.com/office/drawing/2014/main" id="{A3530FFA-262C-890F-C604-FFEF4DE8CF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C91AEA-1D36-E089-B616-9CC9FD83A662}"/>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3327070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CE3B-F6FE-3ADC-73D3-A976C66C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F3565D-4936-F780-FFDF-E5D3D4BCE6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C3A9A6-1DBD-F1D3-666A-A210837FF5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E41D1-0904-59B5-77A0-89952B0152DE}"/>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6" name="Footer Placeholder 5">
            <a:extLst>
              <a:ext uri="{FF2B5EF4-FFF2-40B4-BE49-F238E27FC236}">
                <a16:creationId xmlns:a16="http://schemas.microsoft.com/office/drawing/2014/main" id="{6E81F165-6B55-CE9D-BDBF-88B62BEDAC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32B795-F0C7-D47D-2FEB-6D092922B8E9}"/>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2395716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9E48-A32E-4FDE-F574-27EA72C1C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A1539C-67AC-0424-C18E-3D54AD1B3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50B308-0159-37BE-EDA7-3600A50DF4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F2BA49-EFF6-F832-36C2-787F0A15EEBF}"/>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6" name="Footer Placeholder 5">
            <a:extLst>
              <a:ext uri="{FF2B5EF4-FFF2-40B4-BE49-F238E27FC236}">
                <a16:creationId xmlns:a16="http://schemas.microsoft.com/office/drawing/2014/main" id="{5F56EEC6-EB11-FE72-CBEC-3E17224397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D4D14C-0096-0E16-1F6C-29F5E5283F9E}"/>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1072480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CBD4-745F-13CB-A0C7-C6B5ABE248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B3E37C-AAD5-C093-A9D6-23D03BEDD4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D930C-A7ED-E18D-7F61-025831A52979}"/>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8F9C45D5-675B-44E3-BC91-F70117B5BF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0229DB-EEF1-068A-2284-EFC21195B435}"/>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2934782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D739A3-71E2-C33E-0867-6F0F3121A9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739177-A077-B87E-BFE5-D39636ADD7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F9A538-5485-7B07-CBB8-70C3336E7019}"/>
              </a:ext>
            </a:extLst>
          </p:cNvPr>
          <p:cNvSpPr>
            <a:spLocks noGrp="1"/>
          </p:cNvSpPr>
          <p:nvPr>
            <p:ph type="dt" sz="half" idx="10"/>
          </p:nvPr>
        </p:nvSpPr>
        <p:spPr/>
        <p:txBody>
          <a:body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19495D26-3331-5124-98D2-5067575B23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053CD-B7E1-8A33-1061-F44101862F62}"/>
              </a:ext>
            </a:extLst>
          </p:cNvPr>
          <p:cNvSpPr>
            <a:spLocks noGrp="1"/>
          </p:cNvSpPr>
          <p:nvPr>
            <p:ph type="sldNum" sz="quarter" idx="12"/>
          </p:nvPr>
        </p:nvSpPr>
        <p:spPr/>
        <p:txBody>
          <a:bodyPr/>
          <a:lstStyle/>
          <a:p>
            <a:fld id="{97CD168D-6FDD-4AB8-9DE3-59DF191DE320}" type="slidenum">
              <a:rPr lang="en-IN" smtClean="0"/>
              <a:t>‹#›</a:t>
            </a:fld>
            <a:endParaRPr lang="en-IN"/>
          </a:p>
        </p:txBody>
      </p:sp>
    </p:spTree>
    <p:extLst>
      <p:ext uri="{BB962C8B-B14F-4D97-AF65-F5344CB8AC3E}">
        <p14:creationId xmlns:p14="http://schemas.microsoft.com/office/powerpoint/2010/main" val="201432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65E77B-1184-C770-72F1-EA0EA89B07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6C6377-07D0-03C9-E45D-99A9D336DF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63F844-ECF1-2047-080C-BEA69080D8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4834-C832-4389-B854-74C341647A2D}" type="datetimeFigureOut">
              <a:rPr lang="en-IN" smtClean="0"/>
              <a:t>08-05-2026</a:t>
            </a:fld>
            <a:endParaRPr lang="en-IN"/>
          </a:p>
        </p:txBody>
      </p:sp>
      <p:sp>
        <p:nvSpPr>
          <p:cNvPr id="5" name="Footer Placeholder 4">
            <a:extLst>
              <a:ext uri="{FF2B5EF4-FFF2-40B4-BE49-F238E27FC236}">
                <a16:creationId xmlns:a16="http://schemas.microsoft.com/office/drawing/2014/main" id="{9A061ABB-CB50-6CF2-5175-529028828E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647677-D6B7-2635-E991-712392708C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D168D-6FDD-4AB8-9DE3-59DF191DE320}" type="slidenum">
              <a:rPr lang="en-IN" smtClean="0"/>
              <a:t>‹#›</a:t>
            </a:fld>
            <a:endParaRPr lang="en-IN"/>
          </a:p>
        </p:txBody>
      </p:sp>
    </p:spTree>
    <p:extLst>
      <p:ext uri="{BB962C8B-B14F-4D97-AF65-F5344CB8AC3E}">
        <p14:creationId xmlns:p14="http://schemas.microsoft.com/office/powerpoint/2010/main" val="4241892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5372" y="1242899"/>
            <a:ext cx="10439400" cy="2077948"/>
          </a:xfrm>
        </p:spPr>
        <p:txBody>
          <a:bodyPr>
            <a:normAutofit fontScale="90000"/>
          </a:bodyPr>
          <a:lstStyle/>
          <a:p>
            <a:pPr>
              <a:lnSpc>
                <a:spcPct val="150000"/>
              </a:lnSpc>
            </a:pP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Automated Waste sorting  system using Yolo </a:t>
            </a:r>
            <a:r>
              <a:rPr lang="en-US" sz="4000">
                <a:latin typeface="Times New Roman" panose="02020603050405020304" pitchFamily="18" charset="0"/>
                <a:cs typeface="Times New Roman" panose="02020603050405020304" pitchFamily="18" charset="0"/>
              </a:rPr>
              <a:t>and FLASK</a:t>
            </a:r>
            <a:br>
              <a:rPr lang="en-US" sz="4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Project Category: </a:t>
            </a:r>
            <a:r>
              <a:rPr lang="en-US" sz="1800" dirty="0">
                <a:latin typeface="Times New Roman" panose="02020603050405020304" pitchFamily="18" charset="0"/>
                <a:cs typeface="Times New Roman" panose="02020603050405020304" pitchFamily="18" charset="0"/>
              </a:rPr>
              <a:t>RESEARCH</a:t>
            </a:r>
            <a:endParaRPr lang="en-IN"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82349" y="3537153"/>
            <a:ext cx="11627301" cy="2321781"/>
          </a:xfrm>
        </p:spPr>
        <p:txBody>
          <a:bodyPr>
            <a:normAutofit fontScale="92500"/>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Guide Name                                                                Student Name &amp; Registration Number</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Dr. A.JACKULIN MAHARIBA                                        KOUSHIK VISHAL S(RA2211026010384)</a:t>
            </a:r>
          </a:p>
          <a:p>
            <a:r>
              <a:rPr lang="en-IN" dirty="0">
                <a:latin typeface="Times New Roman" panose="02020603050405020304" pitchFamily="18" charset="0"/>
                <a:cs typeface="Times New Roman" panose="02020603050405020304" pitchFamily="18" charset="0"/>
              </a:rPr>
              <a:t>                                                                                           KISHORE KHANNAN(RA2211026010409)</a:t>
            </a:r>
          </a:p>
        </p:txBody>
      </p:sp>
      <p:pic>
        <p:nvPicPr>
          <p:cNvPr id="1026" name="Picture 2" descr="SRM Institute of Science and Technology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0981" y="63453"/>
            <a:ext cx="1661019" cy="1655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B44-9FE1-E744-58E0-0E9D7CD6FDF1}"/>
              </a:ext>
            </a:extLst>
          </p:cNvPr>
          <p:cNvSpPr>
            <a:spLocks noGrp="1"/>
          </p:cNvSpPr>
          <p:nvPr>
            <p:ph type="title"/>
          </p:nvPr>
        </p:nvSpPr>
        <p:spPr>
          <a:xfrm>
            <a:off x="838200" y="244030"/>
            <a:ext cx="10515600" cy="1325563"/>
          </a:xfrm>
        </p:spPr>
        <p:txBody>
          <a:bodyPr/>
          <a:lstStyle/>
          <a:p>
            <a:pPr algn="ctr"/>
            <a:r>
              <a:rPr lang="en-IN" dirty="0"/>
              <a:t>Visit to Recycling centres</a:t>
            </a:r>
          </a:p>
        </p:txBody>
      </p:sp>
      <p:sp>
        <p:nvSpPr>
          <p:cNvPr id="3" name="Content Placeholder 2">
            <a:extLst>
              <a:ext uri="{FF2B5EF4-FFF2-40B4-BE49-F238E27FC236}">
                <a16:creationId xmlns:a16="http://schemas.microsoft.com/office/drawing/2014/main" id="{284C6DF9-B0CE-6322-63C3-796DC8650DFA}"/>
              </a:ext>
            </a:extLst>
          </p:cNvPr>
          <p:cNvSpPr>
            <a:spLocks noGrp="1"/>
          </p:cNvSpPr>
          <p:nvPr>
            <p:ph idx="1"/>
          </p:nvPr>
        </p:nvSpPr>
        <p:spPr>
          <a:xfrm>
            <a:off x="736092" y="1569593"/>
            <a:ext cx="10617708" cy="4351338"/>
          </a:xfrm>
        </p:spPr>
        <p:txBody>
          <a:bodyPr>
            <a:normAutofit/>
          </a:bodyPr>
          <a:lstStyle/>
          <a:p>
            <a:pPr marL="0" indent="0" algn="just">
              <a:buNone/>
            </a:pPr>
            <a:r>
              <a:rPr lang="en-US" sz="1800" dirty="0"/>
              <a:t>As part of our major project, we visited a local recycling center to understand how waste segregation and recycling are currently carried out. This field study helped us observe real-time waste handling, storage, and manual sorting processes, which inspired the need for an automated waste sorting system using computer vision.</a:t>
            </a:r>
          </a:p>
          <a:p>
            <a:pPr marL="0" indent="0" algn="just">
              <a:buNone/>
            </a:pPr>
            <a:r>
              <a:rPr lang="en-IN" sz="1800" dirty="0"/>
              <a:t>Centre Name : WOW HUB, Chennai</a:t>
            </a:r>
            <a:endParaRPr lang="en-US" sz="1800" dirty="0"/>
          </a:p>
        </p:txBody>
      </p:sp>
      <p:pic>
        <p:nvPicPr>
          <p:cNvPr id="5" name="Picture 4">
            <a:extLst>
              <a:ext uri="{FF2B5EF4-FFF2-40B4-BE49-F238E27FC236}">
                <a16:creationId xmlns:a16="http://schemas.microsoft.com/office/drawing/2014/main" id="{4AEE2E9A-4BC6-B421-1E66-6AF21DC44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049" y="3018791"/>
            <a:ext cx="4434269" cy="3474084"/>
          </a:xfrm>
          <a:prstGeom prst="rect">
            <a:avLst/>
          </a:prstGeom>
        </p:spPr>
      </p:pic>
      <p:sp>
        <p:nvSpPr>
          <p:cNvPr id="7" name="TextBox 6">
            <a:extLst>
              <a:ext uri="{FF2B5EF4-FFF2-40B4-BE49-F238E27FC236}">
                <a16:creationId xmlns:a16="http://schemas.microsoft.com/office/drawing/2014/main" id="{EE23F374-0C47-005B-2420-B529263CD195}"/>
              </a:ext>
            </a:extLst>
          </p:cNvPr>
          <p:cNvSpPr txBox="1"/>
          <p:nvPr/>
        </p:nvSpPr>
        <p:spPr>
          <a:xfrm>
            <a:off x="736092" y="3429000"/>
            <a:ext cx="6094476" cy="3139321"/>
          </a:xfrm>
          <a:prstGeom prst="rect">
            <a:avLst/>
          </a:prstGeom>
          <a:noFill/>
        </p:spPr>
        <p:txBody>
          <a:bodyPr wrap="square">
            <a:spAutoFit/>
          </a:bodyPr>
          <a:lstStyle/>
          <a:p>
            <a:r>
              <a:rPr lang="en-IN" dirty="0"/>
              <a:t>Objectives </a:t>
            </a:r>
          </a:p>
          <a:p>
            <a:endParaRPr lang="en-IN" dirty="0"/>
          </a:p>
          <a:p>
            <a:r>
              <a:rPr lang="en-IN" dirty="0"/>
              <a:t>•To understand the existing waste segregation and recycling process	</a:t>
            </a:r>
          </a:p>
          <a:p>
            <a:r>
              <a:rPr lang="en-IN" dirty="0"/>
              <a:t>•To observe manual and semi-automated waste sorting techniques</a:t>
            </a:r>
          </a:p>
          <a:p>
            <a:r>
              <a:rPr lang="en-IN" dirty="0"/>
              <a:t>•To </a:t>
            </a:r>
            <a:r>
              <a:rPr lang="en-IN" dirty="0" err="1"/>
              <a:t>analyze</a:t>
            </a:r>
            <a:r>
              <a:rPr lang="en-IN" dirty="0"/>
              <a:t> real-time challenges in handling mixed waste	</a:t>
            </a:r>
          </a:p>
          <a:p>
            <a:r>
              <a:rPr lang="en-IN" dirty="0"/>
              <a:t>•To collect practical insights and images for project implementation	</a:t>
            </a:r>
          </a:p>
          <a:p>
            <a:r>
              <a:rPr lang="en-IN" dirty="0"/>
              <a:t>•To identify areas where AI-based automation can improve efficiency</a:t>
            </a:r>
          </a:p>
        </p:txBody>
      </p:sp>
    </p:spTree>
    <p:extLst>
      <p:ext uri="{BB962C8B-B14F-4D97-AF65-F5344CB8AC3E}">
        <p14:creationId xmlns:p14="http://schemas.microsoft.com/office/powerpoint/2010/main" val="3282054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72E2DBA-D10C-BF06-2BC4-7805195511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4984" y="166237"/>
            <a:ext cx="2990088" cy="3107315"/>
          </a:xfrm>
        </p:spPr>
      </p:pic>
      <p:sp>
        <p:nvSpPr>
          <p:cNvPr id="9" name="TextBox 8">
            <a:extLst>
              <a:ext uri="{FF2B5EF4-FFF2-40B4-BE49-F238E27FC236}">
                <a16:creationId xmlns:a16="http://schemas.microsoft.com/office/drawing/2014/main" id="{8218BEED-39C1-9538-C772-1C49A63093CB}"/>
              </a:ext>
            </a:extLst>
          </p:cNvPr>
          <p:cNvSpPr txBox="1"/>
          <p:nvPr/>
        </p:nvSpPr>
        <p:spPr>
          <a:xfrm>
            <a:off x="4672584" y="496884"/>
            <a:ext cx="7141464" cy="2585323"/>
          </a:xfrm>
          <a:prstGeom prst="rect">
            <a:avLst/>
          </a:prstGeom>
          <a:noFill/>
        </p:spPr>
        <p:txBody>
          <a:bodyPr wrap="square">
            <a:spAutoFit/>
          </a:bodyPr>
          <a:lstStyle/>
          <a:p>
            <a:pPr algn="just"/>
            <a:r>
              <a:rPr lang="en-IN" dirty="0"/>
              <a:t>This image shows the bulk waste collection and storage area inside the recycling </a:t>
            </a:r>
            <a:r>
              <a:rPr lang="en-IN" dirty="0" err="1"/>
              <a:t>center</a:t>
            </a:r>
            <a:r>
              <a:rPr lang="en-IN" dirty="0"/>
              <a:t> located at </a:t>
            </a:r>
            <a:r>
              <a:rPr lang="en-IN" dirty="0" err="1"/>
              <a:t>Mambakkam</a:t>
            </a:r>
            <a:r>
              <a:rPr lang="en-IN" dirty="0"/>
              <a:t> Road, </a:t>
            </a:r>
            <a:r>
              <a:rPr lang="en-IN" dirty="0" err="1"/>
              <a:t>Ponmar</a:t>
            </a:r>
            <a:r>
              <a:rPr lang="en-IN" dirty="0"/>
              <a:t>, Chennai. The collected waste, mainly consisting of cardboard and paper materials, is stored in large quantities within a covered industrial </a:t>
            </a:r>
            <a:r>
              <a:rPr lang="en-IN" dirty="0" err="1"/>
              <a:t>shed.At</a:t>
            </a:r>
            <a:r>
              <a:rPr lang="en-IN" dirty="0"/>
              <a:t> this stage, waste is accumulated from multiple sources before segregation and further processing. The waste is not automatically classified and requires manual inspection to separate recyclable materials. This bulk storage approach helps in handling large volumes but increases dependency on human effort for sorting.</a:t>
            </a:r>
          </a:p>
        </p:txBody>
      </p:sp>
      <p:pic>
        <p:nvPicPr>
          <p:cNvPr id="11" name="Picture 10">
            <a:extLst>
              <a:ext uri="{FF2B5EF4-FFF2-40B4-BE49-F238E27FC236}">
                <a16:creationId xmlns:a16="http://schemas.microsoft.com/office/drawing/2014/main" id="{8AAAD610-EB6E-7A71-B0EF-4F4564E9D9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984" y="3456432"/>
            <a:ext cx="2990088" cy="3107315"/>
          </a:xfrm>
          <a:prstGeom prst="rect">
            <a:avLst/>
          </a:prstGeom>
        </p:spPr>
      </p:pic>
      <p:sp>
        <p:nvSpPr>
          <p:cNvPr id="13" name="TextBox 12">
            <a:extLst>
              <a:ext uri="{FF2B5EF4-FFF2-40B4-BE49-F238E27FC236}">
                <a16:creationId xmlns:a16="http://schemas.microsoft.com/office/drawing/2014/main" id="{EDFCCDD8-F464-3B38-915B-74AE5CA69C36}"/>
              </a:ext>
            </a:extLst>
          </p:cNvPr>
          <p:cNvSpPr txBox="1"/>
          <p:nvPr/>
        </p:nvSpPr>
        <p:spPr>
          <a:xfrm>
            <a:off x="4672584" y="3498794"/>
            <a:ext cx="7077456" cy="2308324"/>
          </a:xfrm>
          <a:prstGeom prst="rect">
            <a:avLst/>
          </a:prstGeom>
          <a:noFill/>
        </p:spPr>
        <p:txBody>
          <a:bodyPr wrap="square">
            <a:spAutoFit/>
          </a:bodyPr>
          <a:lstStyle/>
          <a:p>
            <a:pPr algn="just"/>
            <a:r>
              <a:rPr lang="en-IN" dirty="0"/>
              <a:t>This image shows the waste pre-processing area inside the recycling </a:t>
            </a:r>
            <a:r>
              <a:rPr lang="en-IN" dirty="0" err="1"/>
              <a:t>center</a:t>
            </a:r>
            <a:r>
              <a:rPr lang="en-IN" dirty="0"/>
              <a:t>, where collected waste materials such as cardboard, plastic, and mixed recyclables are handled before further recycling. The machines visible in the image are hydraulic baling or compression machines used to compact waste into dense </a:t>
            </a:r>
            <a:r>
              <a:rPr lang="en-IN" dirty="0" err="1"/>
              <a:t>bundles.Waste</a:t>
            </a:r>
            <a:r>
              <a:rPr lang="en-IN" dirty="0"/>
              <a:t> is first manually segregated and then fed into these machines to reduce volume for easier storage and transportation. This process improves space utilization but still relies heavily on manual identification and feeding of waste materials.</a:t>
            </a:r>
          </a:p>
        </p:txBody>
      </p:sp>
    </p:spTree>
    <p:extLst>
      <p:ext uri="{BB962C8B-B14F-4D97-AF65-F5344CB8AC3E}">
        <p14:creationId xmlns:p14="http://schemas.microsoft.com/office/powerpoint/2010/main" val="449771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2CD9CA-4D74-240B-212E-1D39D8B3A8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9994" y="106553"/>
            <a:ext cx="2671614" cy="3075559"/>
          </a:xfrm>
        </p:spPr>
      </p:pic>
      <p:sp>
        <p:nvSpPr>
          <p:cNvPr id="7" name="TextBox 6">
            <a:extLst>
              <a:ext uri="{FF2B5EF4-FFF2-40B4-BE49-F238E27FC236}">
                <a16:creationId xmlns:a16="http://schemas.microsoft.com/office/drawing/2014/main" id="{925DB526-F9CC-A7D4-4B63-B7CD5E4208E7}"/>
              </a:ext>
            </a:extLst>
          </p:cNvPr>
          <p:cNvSpPr txBox="1"/>
          <p:nvPr/>
        </p:nvSpPr>
        <p:spPr>
          <a:xfrm>
            <a:off x="4773168" y="213171"/>
            <a:ext cx="6565392" cy="2585323"/>
          </a:xfrm>
          <a:prstGeom prst="rect">
            <a:avLst/>
          </a:prstGeom>
          <a:noFill/>
        </p:spPr>
        <p:txBody>
          <a:bodyPr wrap="square">
            <a:spAutoFit/>
          </a:bodyPr>
          <a:lstStyle/>
          <a:p>
            <a:pPr algn="just"/>
            <a:r>
              <a:rPr lang="en-IN" dirty="0"/>
              <a:t>This image shows the segregated and compressed waste storage area inside the recycling facility. After manual sorting and compression, recyclable materials mainly cardboard and paper are tightly packed into bundles using baling machines and stored </a:t>
            </a:r>
            <a:r>
              <a:rPr lang="en-IN" dirty="0" err="1"/>
              <a:t>separately.These</a:t>
            </a:r>
            <a:r>
              <a:rPr lang="en-IN" dirty="0"/>
              <a:t> compressed bundles are arranged systematically to optimize storage space and prepare the material for transportation to recycling units. Although the waste is segregated at this stage, the process still depends on manual identification and handling, which limits efficiency and scalability.</a:t>
            </a:r>
          </a:p>
        </p:txBody>
      </p:sp>
      <p:pic>
        <p:nvPicPr>
          <p:cNvPr id="9" name="Picture 8">
            <a:extLst>
              <a:ext uri="{FF2B5EF4-FFF2-40B4-BE49-F238E27FC236}">
                <a16:creationId xmlns:a16="http://schemas.microsoft.com/office/drawing/2014/main" id="{83D43D72-AB3B-3491-5DE8-FD77F2FE73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994" y="3502151"/>
            <a:ext cx="2671614" cy="3249295"/>
          </a:xfrm>
          <a:prstGeom prst="rect">
            <a:avLst/>
          </a:prstGeom>
        </p:spPr>
      </p:pic>
      <p:sp>
        <p:nvSpPr>
          <p:cNvPr id="11" name="TextBox 10">
            <a:extLst>
              <a:ext uri="{FF2B5EF4-FFF2-40B4-BE49-F238E27FC236}">
                <a16:creationId xmlns:a16="http://schemas.microsoft.com/office/drawing/2014/main" id="{FB4B476B-7886-0687-54BF-F62D7F38F588}"/>
              </a:ext>
            </a:extLst>
          </p:cNvPr>
          <p:cNvSpPr txBox="1"/>
          <p:nvPr/>
        </p:nvSpPr>
        <p:spPr>
          <a:xfrm>
            <a:off x="4773168" y="3838462"/>
            <a:ext cx="6565392" cy="2308324"/>
          </a:xfrm>
          <a:prstGeom prst="rect">
            <a:avLst/>
          </a:prstGeom>
          <a:noFill/>
        </p:spPr>
        <p:txBody>
          <a:bodyPr wrap="square">
            <a:spAutoFit/>
          </a:bodyPr>
          <a:lstStyle/>
          <a:p>
            <a:pPr algn="just"/>
            <a:r>
              <a:rPr lang="en-IN" dirty="0"/>
              <a:t>This image shows the outdoor storage area of the recycling </a:t>
            </a:r>
            <a:r>
              <a:rPr lang="en-IN" dirty="0" err="1"/>
              <a:t>center</a:t>
            </a:r>
            <a:r>
              <a:rPr lang="en-IN" dirty="0"/>
              <a:t> where sorted plastic waste materials are stacked in large quantities. After segregation and initial processing, plastic components are arranged and stored separately based on type and </a:t>
            </a:r>
            <a:r>
              <a:rPr lang="en-IN" dirty="0" err="1"/>
              <a:t>structure.Proper</a:t>
            </a:r>
            <a:r>
              <a:rPr lang="en-IN" dirty="0"/>
              <a:t> segregation at this stage is essential to ensure high-quality recycling and to prevent contamination with other waste materials. The storage is organized but still depends on manual identification during earlier stages.</a:t>
            </a:r>
          </a:p>
        </p:txBody>
      </p:sp>
    </p:spTree>
    <p:extLst>
      <p:ext uri="{BB962C8B-B14F-4D97-AF65-F5344CB8AC3E}">
        <p14:creationId xmlns:p14="http://schemas.microsoft.com/office/powerpoint/2010/main" val="166732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771DF08-654A-DF3F-277C-4962793603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9722" y="271145"/>
            <a:ext cx="2497878" cy="3066415"/>
          </a:xfrm>
        </p:spPr>
      </p:pic>
      <p:sp>
        <p:nvSpPr>
          <p:cNvPr id="7" name="TextBox 6">
            <a:extLst>
              <a:ext uri="{FF2B5EF4-FFF2-40B4-BE49-F238E27FC236}">
                <a16:creationId xmlns:a16="http://schemas.microsoft.com/office/drawing/2014/main" id="{A88CA7D2-8D7D-63AF-19C5-4E9A698CD146}"/>
              </a:ext>
            </a:extLst>
          </p:cNvPr>
          <p:cNvSpPr txBox="1"/>
          <p:nvPr/>
        </p:nvSpPr>
        <p:spPr>
          <a:xfrm>
            <a:off x="4519422" y="271145"/>
            <a:ext cx="6512856" cy="2031325"/>
          </a:xfrm>
          <a:prstGeom prst="rect">
            <a:avLst/>
          </a:prstGeom>
          <a:noFill/>
        </p:spPr>
        <p:txBody>
          <a:bodyPr wrap="square">
            <a:spAutoFit/>
          </a:bodyPr>
          <a:lstStyle/>
          <a:p>
            <a:pPr algn="just"/>
            <a:r>
              <a:rPr lang="en-IN" dirty="0"/>
              <a:t>This image shows the stage where segregated waste materials, mainly cardboard and paper waste, are prepared for transportation. The waste is collected, loosely sorted, and loaded near transport vehicles inside the recycling </a:t>
            </a:r>
            <a:r>
              <a:rPr lang="en-IN" dirty="0" err="1"/>
              <a:t>facility.At</a:t>
            </a:r>
            <a:r>
              <a:rPr lang="en-IN" dirty="0"/>
              <a:t> this stage, waste is temporarily stored before being dispatched to specialized recycling plants for further processing. Manual handling and visual inspection are used to ensure the waste type is appropriate for transportation.</a:t>
            </a:r>
          </a:p>
        </p:txBody>
      </p:sp>
    </p:spTree>
    <p:extLst>
      <p:ext uri="{BB962C8B-B14F-4D97-AF65-F5344CB8AC3E}">
        <p14:creationId xmlns:p14="http://schemas.microsoft.com/office/powerpoint/2010/main" val="827252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45332D-B861-6B51-3BA0-10DE7B6DE7F8}"/>
              </a:ext>
            </a:extLst>
          </p:cNvPr>
          <p:cNvSpPr>
            <a:spLocks noGrp="1"/>
          </p:cNvSpPr>
          <p:nvPr>
            <p:ph idx="1"/>
          </p:nvPr>
        </p:nvSpPr>
        <p:spPr>
          <a:xfrm>
            <a:off x="838200" y="548640"/>
            <a:ext cx="10515600" cy="5628323"/>
          </a:xfrm>
        </p:spPr>
        <p:txBody>
          <a:bodyPr>
            <a:normAutofit/>
          </a:bodyPr>
          <a:lstStyle/>
          <a:p>
            <a:r>
              <a:rPr lang="en-IN" sz="1800" dirty="0"/>
              <a:t>Centre name : B.M </a:t>
            </a:r>
            <a:r>
              <a:rPr lang="en-IN" sz="1800" dirty="0" err="1"/>
              <a:t>Industires</a:t>
            </a:r>
            <a:r>
              <a:rPr lang="en-IN" sz="1800" dirty="0"/>
              <a:t> </a:t>
            </a:r>
          </a:p>
          <a:p>
            <a:pPr marL="0" indent="0" algn="just">
              <a:buNone/>
            </a:pPr>
            <a:r>
              <a:rPr lang="en-US" sz="1800" dirty="0"/>
              <a:t>This image was captured during our visit to BM Industries, </a:t>
            </a:r>
            <a:r>
              <a:rPr lang="en-US" sz="1800" dirty="0" err="1"/>
              <a:t>Mugappair</a:t>
            </a:r>
            <a:r>
              <a:rPr lang="en-US" sz="1800" dirty="0"/>
              <a:t> West, Chennai, a functional recycling and waste management facility. The visit provided practical exposure to real-world waste handling and segregation practices currently followed in recycling industries.</a:t>
            </a:r>
          </a:p>
          <a:p>
            <a:pPr marL="0" indent="0" algn="just">
              <a:buNone/>
            </a:pPr>
            <a:endParaRPr lang="en-US" sz="1800" dirty="0"/>
          </a:p>
          <a:p>
            <a:pPr marL="0" indent="0" algn="just">
              <a:buNone/>
            </a:pPr>
            <a:r>
              <a:rPr lang="en-US" sz="1800" dirty="0" err="1"/>
              <a:t>Obejectives</a:t>
            </a:r>
            <a:r>
              <a:rPr lang="en-US" sz="1800" dirty="0"/>
              <a:t>:</a:t>
            </a:r>
          </a:p>
          <a:p>
            <a:pPr marL="0" indent="0" algn="just">
              <a:buNone/>
            </a:pPr>
            <a:endParaRPr lang="en-US" sz="1800" dirty="0"/>
          </a:p>
          <a:p>
            <a:pPr marL="0" indent="0" algn="just">
              <a:buNone/>
            </a:pPr>
            <a:r>
              <a:rPr lang="en-US" sz="1800" dirty="0"/>
              <a:t>•Waste is collected from various sources and brought to the facility in mixed form</a:t>
            </a:r>
          </a:p>
          <a:p>
            <a:pPr marL="0" indent="0" algn="just">
              <a:buNone/>
            </a:pPr>
            <a:r>
              <a:rPr lang="en-US" sz="1800" dirty="0"/>
              <a:t>•Primary segregation is largely performed manually by workers	</a:t>
            </a:r>
          </a:p>
          <a:p>
            <a:pPr marL="0" indent="0" algn="just">
              <a:buNone/>
            </a:pPr>
            <a:r>
              <a:rPr lang="en-US" sz="1800" dirty="0"/>
              <a:t>•Sorting efficiency depends on human accuracy and experience	</a:t>
            </a:r>
          </a:p>
          <a:p>
            <a:pPr marL="0" indent="0" algn="just">
              <a:buNone/>
            </a:pPr>
            <a:r>
              <a:rPr lang="en-US" sz="1800" dirty="0"/>
              <a:t>•There is minimal use of intelligent automation in waste classification</a:t>
            </a:r>
            <a:endParaRPr lang="en-IN" sz="1800" dirty="0"/>
          </a:p>
        </p:txBody>
      </p:sp>
      <p:pic>
        <p:nvPicPr>
          <p:cNvPr id="5" name="Picture 4">
            <a:extLst>
              <a:ext uri="{FF2B5EF4-FFF2-40B4-BE49-F238E27FC236}">
                <a16:creationId xmlns:a16="http://schemas.microsoft.com/office/drawing/2014/main" id="{D2395651-1D74-96A9-0537-8398FD88B9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3579" y="2187291"/>
            <a:ext cx="3026620" cy="4122069"/>
          </a:xfrm>
          <a:prstGeom prst="rect">
            <a:avLst/>
          </a:prstGeom>
        </p:spPr>
      </p:pic>
    </p:spTree>
    <p:extLst>
      <p:ext uri="{BB962C8B-B14F-4D97-AF65-F5344CB8AC3E}">
        <p14:creationId xmlns:p14="http://schemas.microsoft.com/office/powerpoint/2010/main" val="2568238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1899CF-936E-8871-E34A-40B4611105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1161" y="410712"/>
            <a:ext cx="3382485" cy="3997659"/>
          </a:xfrm>
        </p:spPr>
      </p:pic>
      <p:sp>
        <p:nvSpPr>
          <p:cNvPr id="7" name="TextBox 6">
            <a:extLst>
              <a:ext uri="{FF2B5EF4-FFF2-40B4-BE49-F238E27FC236}">
                <a16:creationId xmlns:a16="http://schemas.microsoft.com/office/drawing/2014/main" id="{2CA0F275-D4CA-1C80-F601-3C8FC55B3CB7}"/>
              </a:ext>
            </a:extLst>
          </p:cNvPr>
          <p:cNvSpPr txBox="1"/>
          <p:nvPr/>
        </p:nvSpPr>
        <p:spPr>
          <a:xfrm>
            <a:off x="4831882" y="641471"/>
            <a:ext cx="6458957" cy="3416320"/>
          </a:xfrm>
          <a:prstGeom prst="rect">
            <a:avLst/>
          </a:prstGeom>
          <a:noFill/>
        </p:spPr>
        <p:txBody>
          <a:bodyPr wrap="square">
            <a:spAutoFit/>
          </a:bodyPr>
          <a:lstStyle/>
          <a:p>
            <a:pPr algn="just"/>
            <a:r>
              <a:rPr lang="en-IN" dirty="0"/>
              <a:t>The observations from this recycling </a:t>
            </a:r>
            <a:r>
              <a:rPr lang="en-IN" dirty="0" err="1"/>
              <a:t>center</a:t>
            </a:r>
            <a:r>
              <a:rPr lang="en-IN" dirty="0"/>
              <a:t> clearly demonstrated the limitations of manual waste sorting, such as time consumption, inconsistency, and </a:t>
            </a:r>
            <a:r>
              <a:rPr lang="en-IN" dirty="0" err="1"/>
              <a:t>labor</a:t>
            </a:r>
            <a:r>
              <a:rPr lang="en-IN" dirty="0"/>
              <a:t> dependency. These challenges directly motivated the development of our proposed Automated Waste Sorting and Recycling System using YOLO, where computer vision is used to identify and classify waste types automatically. The Django-based backend will manage system data, monitoring, and reporting, making the solution scalable and efficient. Visiting BM Industries helped us validate the real-world necessity of AI-driven automation in waste management. The insights gained from this visit were instrumental in shaping our project design and aligning it with practical industry requirements.</a:t>
            </a:r>
          </a:p>
        </p:txBody>
      </p:sp>
    </p:spTree>
    <p:extLst>
      <p:ext uri="{BB962C8B-B14F-4D97-AF65-F5344CB8AC3E}">
        <p14:creationId xmlns:p14="http://schemas.microsoft.com/office/powerpoint/2010/main" val="3637336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D1C6B6-5560-7B0A-C1C7-40A77C509DDF}"/>
              </a:ext>
            </a:extLst>
          </p:cNvPr>
          <p:cNvPicPr>
            <a:picLocks noGrp="1" noChangeAspect="1"/>
          </p:cNvPicPr>
          <p:nvPr>
            <p:ph idx="1"/>
          </p:nvPr>
        </p:nvPicPr>
        <p:blipFill>
          <a:blip r:embed="rId2"/>
          <a:stretch>
            <a:fillRect/>
          </a:stretch>
        </p:blipFill>
        <p:spPr>
          <a:xfrm>
            <a:off x="1207009" y="1432131"/>
            <a:ext cx="3758184" cy="4553108"/>
          </a:xfrm>
          <a:prstGeom prst="rect">
            <a:avLst/>
          </a:prstGeom>
        </p:spPr>
      </p:pic>
      <p:pic>
        <p:nvPicPr>
          <p:cNvPr id="7" name="Picture 6">
            <a:extLst>
              <a:ext uri="{FF2B5EF4-FFF2-40B4-BE49-F238E27FC236}">
                <a16:creationId xmlns:a16="http://schemas.microsoft.com/office/drawing/2014/main" id="{ABD0CDFA-693E-7F90-4867-85BD0B9ED8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5977" y="1331246"/>
            <a:ext cx="4486084" cy="4553109"/>
          </a:xfrm>
          <a:prstGeom prst="rect">
            <a:avLst/>
          </a:prstGeom>
        </p:spPr>
      </p:pic>
    </p:spTree>
    <p:extLst>
      <p:ext uri="{BB962C8B-B14F-4D97-AF65-F5344CB8AC3E}">
        <p14:creationId xmlns:p14="http://schemas.microsoft.com/office/powerpoint/2010/main" val="423499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3680B-EF38-FBC0-ECE0-D652CCDD9B1D}"/>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1E31459D-E6F0-A25F-1F4A-1258BD37012B}"/>
              </a:ext>
            </a:extLst>
          </p:cNvPr>
          <p:cNvPicPr>
            <a:picLocks noGrp="1" noChangeAspect="1"/>
          </p:cNvPicPr>
          <p:nvPr>
            <p:ph idx="1"/>
          </p:nvPr>
        </p:nvPicPr>
        <p:blipFill>
          <a:blip r:embed="rId2"/>
          <a:stretch>
            <a:fillRect/>
          </a:stretch>
        </p:blipFill>
        <p:spPr>
          <a:xfrm>
            <a:off x="1141434" y="1889632"/>
            <a:ext cx="3485430" cy="4712335"/>
          </a:xfrm>
          <a:prstGeom prst="rect">
            <a:avLst/>
          </a:prstGeom>
        </p:spPr>
      </p:pic>
      <p:pic>
        <p:nvPicPr>
          <p:cNvPr id="6" name="Picture 5">
            <a:extLst>
              <a:ext uri="{FF2B5EF4-FFF2-40B4-BE49-F238E27FC236}">
                <a16:creationId xmlns:a16="http://schemas.microsoft.com/office/drawing/2014/main" id="{B1D73FB2-1903-7DCE-00FC-AC7FDD8035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675" y="1690688"/>
            <a:ext cx="3857625" cy="4873752"/>
          </a:xfrm>
          <a:prstGeom prst="rect">
            <a:avLst/>
          </a:prstGeom>
        </p:spPr>
      </p:pic>
    </p:spTree>
    <p:extLst>
      <p:ext uri="{BB962C8B-B14F-4D97-AF65-F5344CB8AC3E}">
        <p14:creationId xmlns:p14="http://schemas.microsoft.com/office/powerpoint/2010/main" val="138182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D61DC-D534-20B4-573A-DCE8F371550A}"/>
              </a:ext>
            </a:extLst>
          </p:cNvPr>
          <p:cNvSpPr>
            <a:spLocks noGrp="1"/>
          </p:cNvSpPr>
          <p:nvPr>
            <p:ph type="title"/>
          </p:nvPr>
        </p:nvSpPr>
        <p:spPr>
          <a:xfrm>
            <a:off x="838200" y="365125"/>
            <a:ext cx="10515600" cy="869315"/>
          </a:xfrm>
        </p:spPr>
        <p:txBody>
          <a:bodyPr/>
          <a:lstStyle/>
          <a:p>
            <a:pPr algn="ctr"/>
            <a:r>
              <a:rPr lang="en-IN" dirty="0"/>
              <a:t>Importance </a:t>
            </a:r>
          </a:p>
        </p:txBody>
      </p:sp>
      <p:sp>
        <p:nvSpPr>
          <p:cNvPr id="3" name="Content Placeholder 2">
            <a:extLst>
              <a:ext uri="{FF2B5EF4-FFF2-40B4-BE49-F238E27FC236}">
                <a16:creationId xmlns:a16="http://schemas.microsoft.com/office/drawing/2014/main" id="{9EC325DA-D7F8-2E75-BCFB-EF56ED2552AF}"/>
              </a:ext>
            </a:extLst>
          </p:cNvPr>
          <p:cNvSpPr>
            <a:spLocks noGrp="1"/>
          </p:cNvSpPr>
          <p:nvPr>
            <p:ph idx="1"/>
          </p:nvPr>
        </p:nvSpPr>
        <p:spPr>
          <a:xfrm>
            <a:off x="1021080" y="1811957"/>
            <a:ext cx="10515600" cy="3857324"/>
          </a:xfrm>
        </p:spPr>
        <p:txBody>
          <a:bodyPr>
            <a:normAutofit/>
          </a:bodyPr>
          <a:lstStyle/>
          <a:p>
            <a:pPr marL="0" indent="0" algn="just">
              <a:buNone/>
            </a:pPr>
            <a:r>
              <a:rPr lang="en-US" sz="2000" dirty="0"/>
              <a:t>The visit to the recycling center played a crucial role in shaping our major project on the Automated Waste Sorting and Recycling System. By observing real-time waste handling processes such as bulk collection, manual segregation, compression, storage, and transportation, we gained practical insights into the limitations of the existing </a:t>
            </a:r>
            <a:r>
              <a:rPr lang="en-US" sz="2000" dirty="0" err="1"/>
              <a:t>system.The</a:t>
            </a:r>
            <a:r>
              <a:rPr lang="en-US" sz="2000" dirty="0"/>
              <a:t> field study highlighted key challenges including high dependency on manual labor, time-consuming sorting processes, risk of human error, and inefficiencies in handling large volumes of waste. These observations strongly justified the need for an automated, intelligent waste sorting </a:t>
            </a:r>
            <a:r>
              <a:rPr lang="en-US" sz="2000" dirty="0" err="1"/>
              <a:t>solution.Based</a:t>
            </a:r>
            <a:r>
              <a:rPr lang="en-US" sz="2000" dirty="0"/>
              <a:t> on these learnings, we propose an AI-based system using YOLO for real-time waste detection and classification, along with Django for backend data management and monitoring. The practical exposure from this visit ensured that our proposed system is realistic, industry-relevant, and capable of addressing real-world waste management challenges effectively.</a:t>
            </a:r>
            <a:endParaRPr lang="en-IN" sz="2000" dirty="0"/>
          </a:p>
        </p:txBody>
      </p:sp>
    </p:spTree>
    <p:extLst>
      <p:ext uri="{BB962C8B-B14F-4D97-AF65-F5344CB8AC3E}">
        <p14:creationId xmlns:p14="http://schemas.microsoft.com/office/powerpoint/2010/main" val="2164513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A3B00-6435-2E4E-83A3-99E1CF9FBE62}"/>
              </a:ext>
            </a:extLst>
          </p:cNvPr>
          <p:cNvSpPr>
            <a:spLocks noGrp="1"/>
          </p:cNvSpPr>
          <p:nvPr>
            <p:ph idx="1"/>
          </p:nvPr>
        </p:nvSpPr>
        <p:spPr>
          <a:xfrm>
            <a:off x="2704699" y="2649352"/>
            <a:ext cx="6185034" cy="2076651"/>
          </a:xfrm>
        </p:spPr>
        <p:txBody>
          <a:bodyPr>
            <a:normAutofit/>
          </a:bodyPr>
          <a:lstStyle/>
          <a:p>
            <a:pPr marL="0" indent="0" algn="ctr">
              <a:buNone/>
            </a:pPr>
            <a:r>
              <a:rPr lang="en-IN" sz="6000" dirty="0"/>
              <a:t>THANK YOU</a:t>
            </a:r>
          </a:p>
        </p:txBody>
      </p:sp>
    </p:spTree>
    <p:extLst>
      <p:ext uri="{BB962C8B-B14F-4D97-AF65-F5344CB8AC3E}">
        <p14:creationId xmlns:p14="http://schemas.microsoft.com/office/powerpoint/2010/main" val="2358317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951</Words>
  <Application>Microsoft Office PowerPoint</Application>
  <PresentationFormat>Widescreen</PresentationFormat>
  <Paragraphs>34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  Automated Waste sorting  system using Yolo and FLASK Project Category: RESEARCH</vt:lpstr>
      <vt:lpstr>Visit to Recycling centres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Koushik Vishal</dc:creator>
  <cp:lastModifiedBy>Koushik Vishal</cp:lastModifiedBy>
  <cp:revision>12</cp:revision>
  <dcterms:created xsi:type="dcterms:W3CDTF">2026-01-07T17:21:29Z</dcterms:created>
  <dcterms:modified xsi:type="dcterms:W3CDTF">2026-05-08T06:29:16Z</dcterms:modified>
</cp:coreProperties>
</file>